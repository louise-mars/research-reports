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AI-First Transformation: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From Strategy to Competitive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429000"/>
            <a:ext cx="1828800" cy="50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 Data-Driven Roadmap for Sustainable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0"/>
                </a:solidFill>
              </a:rPr>
              <a:t>Executive Review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AI Adoption Is Accelerating — Is Your Organization Keeping Pace?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Global AI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$320B+ invested in enterprise AI in 2025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73% of Fortune 500 now have dedicated AI leadership roles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AI-First companies: 40–60% efficiency gains vs. 12–18% for late adopters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Three Industries Driving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Manufacturing: $78B (gas turbines, predictive maintenance, quality inspection)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Financial Services: $65B (fraud detection, risk modeling, customer intelligence)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Telecommunications: $52B (network optimization, AI-RAN, edge inference)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The Cost of Inaction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Late adopters face 2.5× higher implementation costs by 2027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Data latency gaps compound competitive disadvantage annually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713232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Every quarter of delay widens the gap. Leaders are pulling away — not because they started earlier, but because they invest smarter.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F4E79"/>
                </a:solidFill>
              </a:defRPr>
            </a:pPr>
            <a:r>
              <a:t>Telecom: Turning Network Infrastructure into AI Factories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55555"/>
                </a:solidFill>
              </a:defRPr>
            </a:pPr>
            <a:r>
              <a:t>Case Study: NVIDIA × Marvell Partnership (March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914400"/>
            <a:ext cx="23367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Quantifiable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Traditional RAN architecture can't handle AI inference workloads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Networks consume 40%+ of operator energy budget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AI-as-a-Service: $50B TAM by 2026 — missed revenue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NVIDIA Aerial AI-RAN: AI inference at each cell tower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Marvell custom XPUs + NVLink Fusion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BlueField-3 DPU offloads networking, CPU burden ↓30%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447800"/>
            <a:ext cx="233676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1 PetaOPs AI throughput per base station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Network slice: weeks → hours (90%+ reduction)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Energy efficiency: 4× improvement in TOPS/Watt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NVIDIA invested $2B in Marvell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0" y="914400"/>
            <a:ext cx="457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38600"/>
            <a:ext cx="11277600" cy="152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4E79"/>
                </a:solidFill>
              </a:rPr>
              <a:t>Key Lesson: </a:t>
            </a:r>
          </a:p>
          <a:p>
            <a:r>
              <a:rPr sz="1200">
                <a:solidFill>
                  <a:srgbClr val="333333"/>
                </a:solidFill>
              </a:rPr>
              <a:t>Transform the network itself into an AI factory — not just the data center.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F4E79"/>
                </a:solidFill>
              </a:defRPr>
            </a:pPr>
            <a:r>
              <a:t>Manufacturing: From Cost Center to Predictive Intelligence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55555"/>
                </a:solidFill>
              </a:defRPr>
            </a:pPr>
            <a:r>
              <a:t>Case Study: Siemens Energy Industrial AI Inspection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914400"/>
            <a:ext cx="23367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Quantifiable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40+ manual inspection hours per gas turbine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3–5% defect miss rate with human-only inspection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Unplanned downtime costing $1M+ per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Edge AI vision for real-time turbine blade inspection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Deep learning model trained on millions of annotated images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NVIDIA Omniverse digital twin: training time 12→6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447800"/>
            <a:ext cx="233676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Inspection time: 40 hrs → 4–6 hrs (85% reduction)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Unplanned downtime: ↓70%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Defect detection rate: 95% → 99.6%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Annual maintenance savings: ~$230M across global fleet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0" y="914400"/>
            <a:ext cx="457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38600"/>
            <a:ext cx="11277600" cy="152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4E79"/>
                </a:solidFill>
              </a:rPr>
              <a:t>Key Lesson: </a:t>
            </a:r>
          </a:p>
          <a:p>
            <a:r>
              <a:rPr sz="1200">
                <a:solidFill>
                  <a:srgbClr val="333333"/>
                </a:solidFill>
              </a:rPr>
              <a:t>Digital twins + edge AI = training speed doubled, accuracy unprecedented.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F4E79"/>
                </a:solidFill>
              </a:defRPr>
            </a:pPr>
            <a:r>
              <a:t>Financial Services: Real-Time AI Decisions at Global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55555"/>
                </a:solidFill>
              </a:defRPr>
            </a:pPr>
            <a:r>
              <a:t>Case Study: Mastercard Decision Intelligence 2.0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200" y="914400"/>
            <a:ext cx="28194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00" y="914400"/>
            <a:ext cx="23367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Quantifiable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$343B annual fraud loss industry-wide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Rule engines: 72-hour lag detecting new attack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False positive rate of 1.5% damaging customer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0" y="1447800"/>
            <a:ext cx="281940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Deep neural network: 200+ real-time transaction features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Transfer learning: new market protections in &lt;48 hours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GenAI summaries: 18 min → 6 min per investigation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XAI module for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1447800"/>
            <a:ext cx="2336760" cy="24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Fraud losses prevented: $96B/year (28% reduction)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Decision latency: 300–500ms → under 50ms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False positive rate: 1.5% → 0.3% (80% reduction)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ROI: $1 invested avoids $17 in losses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0000" y="914400"/>
            <a:ext cx="457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38600"/>
            <a:ext cx="11277600" cy="152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4E79"/>
                </a:solidFill>
              </a:rPr>
              <a:t>Key Lesson: </a:t>
            </a:r>
          </a:p>
          <a:p>
            <a:r>
              <a:rPr sz="1200">
                <a:solidFill>
                  <a:srgbClr val="333333"/>
                </a:solidFill>
              </a:rPr>
              <a:t>Real-time decisioning + XAI = regulatory approval in 6 weeks vs. 6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Three Patterns Separate AI Leaders from Laggards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</a:rPr>
              <a:t>Pattern 1: Edge-First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Process data where it lives — don't fight network latency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Result: 6–10× latency improvement over cloud-dependent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Pattern 2: Human-in-the-Loop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Pure automation achieves 91% accuracy; human+AI achieves 98.7%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AI augments experts rather than replacing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Pattern 3: Platform Thinking Over Point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Mastercard: Unified API for 200+ features → new rules deploy in 48 hours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Reuse, don't rebuild: platform approach cuts new use case cost by 40%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Close the Gap: Five Critical Gaps Blocking Your AI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Gap 1: Data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80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Fragmented, inconsistent data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</a:rPr>
              <a:t>Opportunity: Establish a single source of truth that unlocks all downstream AI initiatives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Gap 2: Infrastructure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Cloud-only or legacy on-prem, not hybrid-ready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745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</a:rPr>
              <a:t>Opportunity: Right-size infrastructure for each workload — sovereignty +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Gap 3: Talent &amp;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AI perceived as threat, not capability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688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</a:rPr>
              <a:t>Opportunity: Upskill at scale; AI champions transform perception from fear to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Gap 4: Governance &amp;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63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No model monitoring, audit trails, or XAI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63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</a:rPr>
              <a:t>Opportunity: Build trust through explainability — unlock regulatory approval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Gap 5: Use Case 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57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Scattered initiatives, no ROI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57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</a:rPr>
              <a:t>Opportunity: Focused portfolio of 3–5 high-ROI pilots beats 20 scattered experiments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F4E79"/>
                </a:solidFill>
              </a:rPr>
              <a:t>Win Hearts Before Winning Markets: Culture &amp; Smart Spending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Recommendation 1: Make AI a Teammate, Not a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CEO publicly commits to AI as an "enlarging force" — jobs evolve, not disappear</a:t>
            </a:r>
          </a:p>
          <a:p>
            <a:r>
              <a:rPr sz="1400">
                <a:solidFill>
                  <a:srgbClr val="333333"/>
                </a:solidFill>
              </a:rPr>
              <a:t>• Train 5-10 "AI Guides" per department (trusted peers who help colleagues adapt)</a:t>
            </a:r>
          </a:p>
          <a:p>
            <a:r>
              <a:rPr sz="1400">
                <a:solidFill>
                  <a:srgbClr val="333333"/>
                </a:solidFill>
              </a:rPr>
              <a:t>• Measure success by "collaboration velocity," not headcount reduction</a:t>
            </a:r>
          </a:p>
          <a:p>
            <a:r>
              <a:rPr sz="1400">
                <a:solidFill>
                  <a:srgbClr val="333333"/>
                </a:solidFill>
              </a:rPr>
              <a:t>• Goal: 85%+ of employees actively using AI tools within 12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12700" cy="5120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Recommendation 2: Spend to Save — The 60/20/15/5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60% → Visible quick wins (pilot projects with measurable ROI within 6 months)</a:t>
            </a:r>
          </a:p>
          <a:p>
            <a:r>
              <a:rPr sz="1400">
                <a:solidFill>
                  <a:srgbClr val="333333"/>
                </a:solidFill>
              </a:rPr>
              <a:t>• 20% → Shared tools that benefit the whole organization</a:t>
            </a:r>
          </a:p>
          <a:p>
            <a:r>
              <a:rPr sz="1400">
                <a:solidFill>
                  <a:srgbClr val="333333"/>
                </a:solidFill>
              </a:rPr>
              <a:t>• 15% → Scaling what works across business units</a:t>
            </a:r>
          </a:p>
          <a:p>
            <a:r>
              <a:rPr sz="1400">
                <a:solidFill>
                  <a:srgbClr val="333333"/>
                </a:solidFill>
              </a:rPr>
              <a:t>• 5% → Bold experiments for future advantage</a:t>
            </a:r>
          </a:p>
          <a:p>
            <a:r>
              <a:rPr sz="1400">
                <a:solidFill>
                  <a:srgbClr val="333333"/>
                </a:solidFill>
              </a:rPr>
              <a:t>• Expected: First tangibly better decision within 6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657600"/>
            <a:ext cx="301752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0" y="3657600"/>
            <a:ext cx="10058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60" y="3657600"/>
            <a:ext cx="754380" cy="320040"/>
          </a:xfrm>
          <a:prstGeom prst="rect">
            <a:avLst/>
          </a:prstGeom>
          <a:solidFill>
            <a:srgbClr val="5B9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78540" y="3657600"/>
            <a:ext cx="251460" cy="3200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050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/>
              <a:t>Quick Wins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005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/>
              <a:t>Shared Platform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4005072"/>
            <a:ext cx="754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/>
              <a:t>Scale-Up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8540" y="4005072"/>
            <a:ext cx="251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/>
              <a:t>Innovation 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F4E79"/>
                </a:solidFill>
              </a:rPr>
              <a:t>The Right Foundation: Computing That Works for You, Data You Can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Recommendation 3: Choose Computing That Fits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Run routine AI where it's fastest and cheapest (local systems)</a:t>
            </a:r>
          </a:p>
          <a:p>
            <a:r>
              <a:rPr sz="1400">
                <a:solidFill>
                  <a:srgbClr val="333333"/>
                </a:solidFill>
              </a:rPr>
              <a:t>• Run heavy training work in the cloud during off-peak hours</a:t>
            </a:r>
          </a:p>
          <a:p>
            <a:r>
              <a:rPr sz="1400">
                <a:solidFill>
                  <a:srgbClr val="333333"/>
                </a:solidFill>
              </a:rPr>
              <a:t>• All AI updates happen automatically — no manual intervention needed</a:t>
            </a:r>
          </a:p>
          <a:p>
            <a:r>
              <a:rPr sz="1300" i="1">
                <a:solidFill>
                  <a:srgbClr val="FF6600"/>
                </a:solidFill>
              </a:rPr>
              <a:t>→ Your teams get AI insights in real time, without paying for expensive always-on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2286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/>
              <a:t>Routine AI</a:t>
            </a:r>
            <a:br/>
            <a:r>
              <a:rPr sz="1100"/>
              <a:t>(Local Systems)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108960"/>
            <a:ext cx="2286000" cy="640080"/>
          </a:xfrm>
          <a:prstGeom prst="rect">
            <a:avLst/>
          </a:prstGeom>
          <a:solidFill>
            <a:srgbClr val="5B9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/>
              <a:t>Heavy Training</a:t>
            </a:r>
            <a:br/>
            <a:r>
              <a:rPr sz="1100"/>
              <a:t>(Cloud Off-Peak)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3108960"/>
            <a:ext cx="2286000" cy="6400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/>
              <a:t>Auto-Updates</a:t>
            </a:r>
            <a:br/>
            <a:r>
              <a:rPr sz="1100"/>
              <a:t>(No Manual 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Recommendation 4: Build Data You Can Actually Bet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L1 (Month 1-2):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Know where your data comes from — no surprises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75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L2 (Month 12):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75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Someone is clearly responsible for each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59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L3 (Month 18):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459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Data quality is measured, managed, and improving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L4 (Ongoing):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43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Your data becomes a competitive asset — it informs decisions before problems happen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754880"/>
            <a:ext cx="100584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754880"/>
            <a:ext cx="10058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754880"/>
            <a:ext cx="10058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4754880"/>
            <a:ext cx="10058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F4E79"/>
                </a:solidFill>
              </a:rPr>
              <a:t>Govern with Confidence: Three Safety Nets + The 18-Month Path to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Three Safety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/>
              <a:t>Layer 1 — Reliability Assurance: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/>
              <a:t>AI outputs are monitored constantly — if something drifts, it triggers an automatic review (no surprises)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/>
              <a:t>Layer 2 — Transparency Shield: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47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/>
              <a:t>Every AI recommendation can be explained and audited — regulators and customers see you operate fairly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/>
              <a:t>Layer 3 — Business Resilience: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95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/>
              <a:t>A senior person always reviews high-stakes AI decisions — no black boxes in critical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12700" cy="5120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18-Month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1005840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/>
              <a:t>Q2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733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Commit: Assess where we stand + pick the first 3 pilot areas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84832"/>
            <a:ext cx="1005840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30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/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122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Prove: First AI pilot live with real users and measurable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23744"/>
            <a:ext cx="1005840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694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/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55117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Scale: Expand to 3-5 areas, first formal ROI report to leadership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62656"/>
            <a:ext cx="1005840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08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/>
              <a:t>Q1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90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Accelerate: Core infrastructure handles AI load without bottlenecks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401568"/>
            <a:ext cx="1005840" cy="292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47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/>
              <a:t>Q2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429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Transform: 80%+ of teams using AI as part of daily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F4E79"/>
                </a:solidFill>
              </a:rPr>
              <a:t>The Math Is Simple: Invest Early, Gain More, Stay Competitive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463040"/>
            <a:ext cx="347472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/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Efficiency Gains 15–20%</a:t>
            </a:r>
            <a:br/>
            <a:r>
              <a:rPr sz="1200"/>
              <a:t>Cost Reduction Pilot savings</a:t>
            </a:r>
            <a:br/>
            <a:r>
              <a:rPr sz="1200"/>
              <a:t>Cumulative Net Value: Break-even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463040"/>
            <a:ext cx="34747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/>
              <a:t>Year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Efficiency Gains 35–45%</a:t>
            </a:r>
            <a:br/>
            <a:r>
              <a:rPr sz="1200"/>
              <a:t>Cost Reduction 2.5× pilot</a:t>
            </a:r>
            <a:br/>
            <a:r>
              <a:rPr sz="1200"/>
              <a:t>New Revenue 1.5× pilot</a:t>
            </a:r>
            <a:br/>
            <a:r>
              <a:rPr sz="1200"/>
              <a:t>Cumulative Net Value: 3–4×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463040"/>
            <a:ext cx="347472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/>
              <a:t>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Efficiency Gains 50–60%</a:t>
            </a:r>
            <a:br/>
            <a:r>
              <a:rPr sz="1200"/>
              <a:t>Cost Reduction 4× pilot</a:t>
            </a:r>
            <a:br/>
            <a:r>
              <a:rPr sz="1200"/>
              <a:t>New Revenue 3× pilot</a:t>
            </a:r>
            <a:br/>
            <a:r>
              <a:rPr sz="1200"/>
              <a:t>Cumulative Net Value: 12–17×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E79"/>
                </a:solidFill>
              </a:rPr>
              <a:t>Resource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Small, focused team: ~10 people (AI specialists + business translators)</a:t>
            </a:r>
          </a:p>
          <a:p>
            <a:r>
              <a:rPr sz="1300">
                <a:solidFill>
                  <a:srgbClr val="333333"/>
                </a:solidFill>
              </a:rPr>
              <a:t>• Annual investment: 1.5–2% of revenue — equivalent to a mid-sized IT system</a:t>
            </a:r>
          </a:p>
          <a:p>
            <a:r>
              <a:rPr sz="1300">
                <a:solidFill>
                  <a:srgbClr val="333333"/>
                </a:solidFill>
              </a:rPr>
              <a:t>• Executive sponsor required — one senior leader owns this agenda</a:t>
            </a:r>
          </a:p>
          <a:p>
            <a:r>
              <a:rPr sz="1300">
                <a:solidFill>
                  <a:srgbClr val="333333"/>
                </a:solidFill>
              </a:rPr>
              <a:t>• First visible results: 6–9 months</a:t>
            </a:r>
          </a:p>
          <a:p>
            <a:r>
              <a:rPr sz="1300">
                <a:solidFill>
                  <a:srgbClr val="333333"/>
                </a:solidFill>
              </a:rPr>
              <a:t>• Full organization benefit: 18–24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Your Decision: Pilot in Q2 or Risk Falling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Immediate Actions (Next 30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Schedule AI readiness assessment workshop (Week 1–2)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Identify 3 candidate pilot use cases (Week 2–3)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Secure executive sponsorship and budget allocation (Week 3–4)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Form AI Transformation Steering Committee (Week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12700" cy="5120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</a:rPr>
              <a:t>Key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First pilot live within 6 months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Measurable ROI within 12 months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404040"/>
                </a:solidFill>
              </a:rPr>
              <a:t>• Organization-wide adoption &gt;80% by Q2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745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The time to act is now. Leaders who pilot in Q2 2026 will set the pace for the decade.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600"/>
                </a:solidFill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